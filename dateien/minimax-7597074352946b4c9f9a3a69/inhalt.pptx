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hamburg/-/blob/8b9c4283cf6fd877557b60358821db28076ee2f3/_posts/2026-10-26-hamburg-foerderfaehigkeit-holzbau-sanierung.md" TargetMode="External"/><Relationship Id="rId3" Type="http://schemas.openxmlformats.org/officeDocument/2006/relationships/hyperlink" Target="https://holzundhaus.github.io/holzwerkhamburg/dateien/minimax-7597074352946b4c9f9a3a6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Sanierung von Holzkonstruktionen: Wann wird sie förderfähig? · Erklärende Präsentation</a:t>
            </a:r>
          </a:p>
        </p:txBody>
      </p:sp>
      <p:sp>
        <p:nvSpPr>
          <p:cNvPr id="3" name="Content Placeholder 2"/>
          <p:cNvSpPr>
            <a:spLocks noGrp="1"/>
          </p:cNvSpPr>
          <p:nvPr>
            <p:ph idx="1"/>
          </p:nvPr>
        </p:nvSpPr>
        <p:spPr/>
        <p:txBody>
          <a:bodyPr/>
          <a:lstStyle/>
          <a:p>
            <a:r>
              <a:t>Überblick: Die energetische Sanierung einer Holzkonstruktion kann förderfähig sein, doch der Baustoff allein löst keine Förderung aus. Entscheidend sind der geplante Energiestandard, die Einhaltung technischer Vorgaben und eine nachvollziehbare Planung. Dieser Leitfaden zeigt, welche Anforderungen, Nachweise und organisatorischen Schritte in Hamburg besonders wichtig sind, bevor Maßnahmen beantragt oder ausgeführt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Förderfähigkeit hängt vom energetischen Ergebnis ab</a:t>
            </a:r>
          </a:p>
        </p:txBody>
      </p:sp>
      <p:sp>
        <p:nvSpPr>
          <p:cNvPr id="3" name="Content Placeholder 2"/>
          <p:cNvSpPr>
            <a:spLocks noGrp="1"/>
          </p:cNvSpPr>
          <p:nvPr>
            <p:ph idx="1"/>
          </p:nvPr>
        </p:nvSpPr>
        <p:spPr/>
        <p:txBody>
          <a:bodyPr/>
          <a:lstStyle/>
          <a:p>
            <a:pPr>
              <a:defRPr sz="1800"/>
            </a:pPr>
            <a:r>
              <a:t>Eine Sanierung von Holzkonstruktionen wird nicht automatisch durch die choice des Baustoffs förderfähig. Maßgeblich ist, ob die Maßnahme einen Energiestandard erreicht, der den Anforderungen des jeweiligen Förderprogramms entspricht. Im Mittelpunkt stehen dabei der Transmissionswärmeverlust der betroffenen Bauteile, die Luftdichtheit des Gesamtsystems, die Berücksichtigung von Wärmebrücken sowie ein geeigneter Feuchteschutz. Bundes- und Länderprogramme können unterschiedliche Anforderungen stellen. Eine erste fachliche Prüfung klärt daher, welcher Förderweg für das konkrete Gebäude infrage kommt und welche Nachweise dafür vorbereitet werden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Förderfähigkeit hängt vom energetischen Ergebnis ab</a:t>
            </a:r>
          </a:p>
        </p:txBody>
      </p:sp>
      <p:sp>
        <p:nvSpPr>
          <p:cNvPr id="3" name="Content Placeholder 2"/>
          <p:cNvSpPr>
            <a:spLocks noGrp="1"/>
          </p:cNvSpPr>
          <p:nvPr>
            <p:ph idx="1"/>
          </p:nvPr>
        </p:nvSpPr>
        <p:spPr/>
        <p:txBody>
          <a:bodyPr/>
          <a:lstStyle/>
          <a:p>
            <a:pPr>
              <a:defRPr sz="1800"/>
            </a:pPr>
            <a:r>
              <a:t>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Nachweise im Holzbau besonders zählen</a:t>
            </a:r>
          </a:p>
        </p:txBody>
      </p:sp>
      <p:sp>
        <p:nvSpPr>
          <p:cNvPr id="3" name="Content Placeholder 2"/>
          <p:cNvSpPr>
            <a:spLocks noGrp="1"/>
          </p:cNvSpPr>
          <p:nvPr>
            <p:ph idx="1"/>
          </p:nvPr>
        </p:nvSpPr>
        <p:spPr/>
        <p:txBody>
          <a:bodyPr/>
          <a:lstStyle/>
          <a:p>
            <a:pPr>
              <a:defRPr sz="1800"/>
            </a:pPr>
            <a:r>
              <a:t>Holzkonstruktionen erfordern zusätzliche Aufmerksamkeit beim Feuchteschutz. Vor der Sanierung sollte der Bestand deshalb gründlich untersucht und dokumentiert werden. Dazu gehören sichtbare Schäden, Angaben zum Feuchtegehalt und Informationen zur vorhandenen Bausubstanz. Ein bauphysikalischer Nachweis muss zeigen, dass im Bauteilinneren keine kritische Feuchteanreicherung entsteht. Außerdem braucht die Planung ein stimmiges Luftdichtheitskonzept für die Anschlüsse an Fenster, Dach und Decken. Wärmebrücken an Übergängen müssen minimiert und in den Berechnungen berücksichtigt werden. Fehlen diese Unterlagen, kann sich die Förderung trotz geeign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Nachweise im Holzbau besonders zählen</a:t>
            </a:r>
          </a:p>
        </p:txBody>
      </p:sp>
      <p:sp>
        <p:nvSpPr>
          <p:cNvPr id="3" name="Content Placeholder 2"/>
          <p:cNvSpPr>
            <a:spLocks noGrp="1"/>
          </p:cNvSpPr>
          <p:nvPr>
            <p:ph idx="1"/>
          </p:nvPr>
        </p:nvSpPr>
        <p:spPr/>
        <p:txBody>
          <a:bodyPr/>
          <a:lstStyle/>
          <a:p>
            <a:pPr>
              <a:defRPr sz="1800"/>
            </a:pPr>
            <a:r>
              <a:t>eter energetischer Maßnahmen verzögern oder eine Nachbesserung erforderlich machen.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Hamburgs Bauordnungsregeln richtig einordnen</a:t>
            </a:r>
          </a:p>
        </p:txBody>
      </p:sp>
      <p:sp>
        <p:nvSpPr>
          <p:cNvPr id="3" name="Content Placeholder 2"/>
          <p:cNvSpPr>
            <a:spLocks noGrp="1"/>
          </p:cNvSpPr>
          <p:nvPr>
            <p:ph idx="1"/>
          </p:nvPr>
        </p:nvSpPr>
        <p:spPr/>
        <p:txBody>
          <a:bodyPr/>
          <a:lstStyle/>
          <a:p>
            <a:pPr>
              <a:defRPr sz="1800"/>
            </a:pPr>
            <a:r>
              <a:t>Seit dem 1. Januar 2026 gelten in Hamburg veränderte Bauordnungsregelungen. Für Sanierungen im Holzbau bedeutet das: Die Verfahrensfreiheit einzelner Maßnahmen ersetzt nicht die Pflicht, die jeweils geltenden baurechtlichen Anforderungen einzuhalten. Welche Anforderungen konkret greifen, hängt unter anderem von der Grundstückssituation, dem Gebäudebestand und der Art der Maßnahme ab. Bei denkmalgeschützten oder in das Denkmalverzeichnis eingetragenen Gebäuden empfiehlt sich eine frühzeitige Abstimmung mit den zuständigen Stellen. So können offene Punkte identifiziert werden, bevor Detailplanung, Bestellung oder Ausführung beginnen.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Fehler bei der Antragstellung vermeiden</a:t>
            </a:r>
          </a:p>
        </p:txBody>
      </p:sp>
      <p:sp>
        <p:nvSpPr>
          <p:cNvPr id="3" name="Content Placeholder 2"/>
          <p:cNvSpPr>
            <a:spLocks noGrp="1"/>
          </p:cNvSpPr>
          <p:nvPr>
            <p:ph idx="1"/>
          </p:nvPr>
        </p:nvSpPr>
        <p:spPr/>
        <p:txBody>
          <a:bodyPr/>
          <a:lstStyle/>
          <a:p>
            <a:pPr>
              <a:defRPr sz="1800"/>
            </a:pPr>
            <a:r>
              <a:t>Probleme entstehen frequently bereits in der Vorbereitung, nicht erst bei der Prüfung des Antrags. Ein typischer Fehler ist, Feuchtemessungen im Bestand nicht oder nur unvollständig zu dokumentieren. Ebenso problematisch ist eine Luftdichtheitsplanung, die lediglich einzelne Bauteile und nicht das Gesamtsystem betrachtet. Werden Wärmebrücken an Anschlüssen unterschätzt, können Berechnungen und tatsächliche Ausführung auseinanderlaufen. Auch die Reihenfolge der Arbeiten muss koordiniert sein: Werden beispielsweise Fassade und Dach erneuert, sollten die erforderlichen Anschlüsse und ihre Detailplanung von Anfang an berücksichtigt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belastbaren Planungsgrundlage starten</a:t>
            </a:r>
          </a:p>
        </p:txBody>
      </p:sp>
      <p:sp>
        <p:nvSpPr>
          <p:cNvPr id="3" name="Content Placeholder 2"/>
          <p:cNvSpPr>
            <a:spLocks noGrp="1"/>
          </p:cNvSpPr>
          <p:nvPr>
            <p:ph idx="1"/>
          </p:nvPr>
        </p:nvSpPr>
        <p:spPr/>
        <p:txBody>
          <a:bodyPr/>
          <a:lstStyle/>
          <a:p>
            <a:pPr>
              <a:defRPr sz="1800"/>
            </a:pPr>
            <a:r>
              <a:t>Die sinnvolle Reihenfolge beginnt mit einer Bestandsanalyse, nicht mit dem Förderantrag. Zu dokumentieren sind das Alter des Gebäudes, bisherige Sanierungen, vorhandene Dämmung, das Heizungs- und Lüftungskonzept sowie sichtbare Schäden mit Fotos und Messwerten. Hinzu kommt die angestrebte energetische Zielstellung. Diese Unterlagen schaffen eine gemeinsame Grundlage für Fachplanung, energetische Bewertung und Förderprüfung. Mit ihnen lassen sich auch Fragen zum Ablauf, zu erforderlichen Nachweisen und zu möglichen Abhängigkeiten zwischen den Gewerken klären. Eine verbindliche Aussage zur Förderung ist ohne Prüfung des individuellen Vorhabens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belastbaren Planungsgrundlage starten</a:t>
            </a:r>
          </a:p>
        </p:txBody>
      </p:sp>
      <p:sp>
        <p:nvSpPr>
          <p:cNvPr id="3" name="Content Placeholder 2"/>
          <p:cNvSpPr>
            <a:spLocks noGrp="1"/>
          </p:cNvSpPr>
          <p:nvPr>
            <p:ph idx="1"/>
          </p:nvPr>
        </p:nvSpPr>
        <p:spPr/>
        <p:txBody>
          <a:bodyPr/>
          <a:lstStyle/>
          <a:p>
            <a:pPr>
              <a:defRPr sz="1800"/>
            </a:pPr>
            <a:r>
              <a:t>nicht möglich; eine gute Vorbereitung erhöht jedoch die Planbarkeit und vermeidet unnötige Verzögerungen.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Energetische Sanierung von Holzkonstruktionen: Wann wird sie förderfähig?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