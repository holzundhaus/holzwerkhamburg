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hamburg.blogspot.com/2026/10/sommerlicher-hitzeschutz-im.html" TargetMode="External"/><Relationship Id="rId3" Type="http://schemas.openxmlformats.org/officeDocument/2006/relationships/hyperlink" Target="https://holzundhaus.github.io/holzwerkhamburg/dateien/minimax-08b29d2063e2208ae8b744c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Sommerlicher Hitzeschutz im Dachgeschoss: bauliche Mittel vor jeder Technik · Erklärende Präsentation</a:t>
            </a:r>
          </a:p>
        </p:txBody>
      </p:sp>
      <p:sp>
        <p:nvSpPr>
          <p:cNvPr id="3" name="Content Placeholder 2"/>
          <p:cNvSpPr>
            <a:spLocks noGrp="1"/>
          </p:cNvSpPr>
          <p:nvPr>
            <p:ph idx="1"/>
          </p:nvPr>
        </p:nvSpPr>
        <p:spPr/>
        <p:txBody>
          <a:bodyPr/>
          <a:lstStyle/>
          <a:p>
            <a:r>
              <a:t>Überblick: Im Sommer entsteht im Dachgeschoss schnell das Gefühl, dass Wärme nicht mehr abzukommen ist. Der Grund liegt rarely allein in der Dämmung: Entscheidend sind auch der Sonnenschutz vor der Verglasung, die Speichermasse im Innenraum und ein funktionierender Luftweg zum Abführen heißer Luft. Der folgende Leitfaden zeigt, wie sich diese drei baulichen Hebel sinnvoll verbinden lassen und wann zusätzliche Technik sinnvoll werden kann.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Dachgeschosse besonders schnell aufheizen</a:t>
            </a:r>
          </a:p>
        </p:txBody>
      </p:sp>
      <p:sp>
        <p:nvSpPr>
          <p:cNvPr id="3" name="Content Placeholder 2"/>
          <p:cNvSpPr>
            <a:spLocks noGrp="1"/>
          </p:cNvSpPr>
          <p:nvPr>
            <p:ph idx="1"/>
          </p:nvPr>
        </p:nvSpPr>
        <p:spPr/>
        <p:txBody>
          <a:bodyPr/>
          <a:lstStyle/>
          <a:p>
            <a:pPr>
              <a:defRPr sz="1800"/>
            </a:pPr>
            <a:r>
              <a:t>Geneigte Dachflächen stehen im Sommer besonders stark unter Sonneneinstrahlung. Ihre größere Außenfläche bedeutet zugleich, dass Ziegel oder Eindeckung mehr Wärme aufnehmen können. Im Inneren sammelt sich warme Luft häufig unter der Firstlinie, weil dort der Luftaustrug nach oben ungünstig ist. Eine leichte Konstruktion aus Holzschalung, Dämmung und Gipskarton besitzt zudem wenig Speichermasse. Sie kann daher schnell aufheizen, obwohl ihre bauphysikalische Auslegung nicht grundsätzlich fehlerhaft sein muss. Mehr Dämmung allein löst dieses sommerliche Problem nicht zuverlässig. Bei der Planung eines Dachausbaus sollte deshalb neben dem winterl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Dachgeschosse besonders schnell aufheizen</a:t>
            </a:r>
          </a:p>
        </p:txBody>
      </p:sp>
      <p:sp>
        <p:nvSpPr>
          <p:cNvPr id="3" name="Content Placeholder 2"/>
          <p:cNvSpPr>
            <a:spLocks noGrp="1"/>
          </p:cNvSpPr>
          <p:nvPr>
            <p:ph idx="1"/>
          </p:nvPr>
        </p:nvSpPr>
        <p:spPr/>
        <p:txBody>
          <a:bodyPr/>
          <a:lstStyle/>
          <a:p>
            <a:pPr>
              <a:defRPr sz="1800"/>
            </a:pPr>
            <a:r>
              <a:t>ichen Wärmeschutz auch der sommerliche Wärmeeintrag betrachtet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Außenliegender Sonnenschutz reduziert den Wärmeeintrag</a:t>
            </a:r>
          </a:p>
        </p:txBody>
      </p:sp>
      <p:sp>
        <p:nvSpPr>
          <p:cNvPr id="3" name="Content Placeholder 2"/>
          <p:cNvSpPr>
            <a:spLocks noGrp="1"/>
          </p:cNvSpPr>
          <p:nvPr>
            <p:ph idx="1"/>
          </p:nvPr>
        </p:nvSpPr>
        <p:spPr/>
        <p:txBody>
          <a:bodyPr/>
          <a:lstStyle/>
          <a:p>
            <a:pPr>
              <a:defRPr sz="1800"/>
            </a:pPr>
            <a:r>
              <a:t>Der wirksamste Sonnenschutz liegt vor dem Glas. Innenliegende Rollos oder Plissees halten zwar Licht zurück, können aber bereits durch die aufgeheizte Scheibe in den Raum gelangte Wärme nicht verhindern. Außenrollläden oder Raffstoren lassen sich stufenlos verstellen und vollständig schließen. Markisen mit Zip-Führung können auch an schrägen Dachflächenfenstern straff sitzen. Feste Bauteile wie ein Vordach über einer Gaube, ein breiter Dachüberstand oder ein Balkon vor der Fensterzeile wirken ohne bewegliche Technik. Wichtig ist die Dimensionierung: Ein kleiner Schattenbereich hilft vor allem, wenn die Sonne tief steht. Für die hoch stehende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Außenliegender Sonnenschutz reduziert den Wärmeeintrag</a:t>
            </a:r>
          </a:p>
        </p:txBody>
      </p:sp>
      <p:sp>
        <p:nvSpPr>
          <p:cNvPr id="3" name="Content Placeholder 2"/>
          <p:cNvSpPr>
            <a:spLocks noGrp="1"/>
          </p:cNvSpPr>
          <p:nvPr>
            <p:ph idx="1"/>
          </p:nvPr>
        </p:nvSpPr>
        <p:spPr/>
        <p:txBody>
          <a:bodyPr/>
          <a:lstStyle/>
          <a:p>
            <a:pPr>
              <a:defRPr sz="1800"/>
            </a:pPr>
            <a:r>
              <a:t>Sommersonne ist ein entsprechend großer Schutzbereich erforderlich.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Speichermasse glättet Temperaturspitzen</a:t>
            </a:r>
          </a:p>
        </p:txBody>
      </p:sp>
      <p:sp>
        <p:nvSpPr>
          <p:cNvPr id="3" name="Content Placeholder 2"/>
          <p:cNvSpPr>
            <a:spLocks noGrp="1"/>
          </p:cNvSpPr>
          <p:nvPr>
            <p:ph idx="1"/>
          </p:nvPr>
        </p:nvSpPr>
        <p:spPr/>
        <p:txBody>
          <a:bodyPr/>
          <a:lstStyle/>
          <a:p>
            <a:pPr>
              <a:defRPr sz="1800"/>
            </a:pPr>
            <a:r>
              <a:t>Massive Bauteile nehmen Wärme auf und geben sie zeitversetzt wieder ab. Im Dachgeschoss kommen dafür beispielsweise Innenverkleidungen aus Lehm- oder Kalkputz auf Holzschalung sowie Unterlagsböden aus Lehm oder Estrich über einer Holzbalkendecke infrage. Schwere Innenmöbel können die Wärmespeicherung unterstützen, während freiliegende Holzbalken allein wenig Speichermasse bieten, wenn unmittelbar dahinter die Dämmung liegt. Der Vorteil zeigt sich besonders bei konsequenter Nachtlüftung: Bauteile, die tagsüber Wärme aufgenommen haben, können in den kühleren Abend- und Nachtstunden wieder abgekühlt werden. Ohne Speichermasse steigt die Raumtemp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Speichermasse glättet Temperaturspitzen</a:t>
            </a:r>
          </a:p>
        </p:txBody>
      </p:sp>
      <p:sp>
        <p:nvSpPr>
          <p:cNvPr id="3" name="Content Placeholder 2"/>
          <p:cNvSpPr>
            <a:spLocks noGrp="1"/>
          </p:cNvSpPr>
          <p:nvPr>
            <p:ph idx="1"/>
          </p:nvPr>
        </p:nvSpPr>
        <p:spPr/>
        <p:txBody>
          <a:bodyPr/>
          <a:lstStyle/>
          <a:p>
            <a:pPr>
              <a:defRPr sz="1800"/>
            </a:pPr>
            <a:r>
              <a:t>eratur nach dem Lüften häufig rasch wieder 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Luftwege für heiße Luft freihalten</a:t>
            </a:r>
          </a:p>
        </p:txBody>
      </p:sp>
      <p:sp>
        <p:nvSpPr>
          <p:cNvPr id="3" name="Content Placeholder 2"/>
          <p:cNvSpPr>
            <a:spLocks noGrp="1"/>
          </p:cNvSpPr>
          <p:nvPr>
            <p:ph idx="1"/>
          </p:nvPr>
        </p:nvSpPr>
        <p:spPr/>
        <p:txBody>
          <a:bodyPr/>
          <a:lstStyle/>
          <a:p>
            <a:pPr>
              <a:defRPr sz="1800"/>
            </a:pPr>
            <a:r>
              <a:t>Damit ein Dachgeschoss Wärme abgeben kann, benötigt es einen nachvollziehbaren Luftweg. Problematisch sind eine fehlende oder verschlossene Firstlüftung, zu tief sitzende Dachflächenfenster, blockierte Innenschiebeläden und Vorhänge sowie dicht schließende Türen zum Treppenhaus. Eine Querlüftung zwischen gegenüberliegenden Öffnungen kann bereits Abhilfe schaffen. Noch wirksamer ist eine kontrollierte Nachtlüftung mit weit geöffneten Fenstern, Insektenschutz und möglichst einem Luftweg direkt unter dem First. Tagsüber sollte das Dachgeschoss geschlossen bleiben, damit zusätzliche Hitze nicht hereinkommt. Lüftungswege und Verschattung sollten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Luftwege für heiße Luft freihalten</a:t>
            </a:r>
          </a:p>
        </p:txBody>
      </p:sp>
      <p:sp>
        <p:nvSpPr>
          <p:cNvPr id="3" name="Content Placeholder 2"/>
          <p:cNvSpPr>
            <a:spLocks noGrp="1"/>
          </p:cNvSpPr>
          <p:nvPr>
            <p:ph idx="1"/>
          </p:nvPr>
        </p:nvSpPr>
        <p:spPr/>
        <p:txBody>
          <a:bodyPr/>
          <a:lstStyle/>
          <a:p>
            <a:pPr>
              <a:defRPr sz="1800"/>
            </a:pPr>
            <a:r>
              <a:t>aher gemeinsam betrachtet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Hebel sinnvoll kombinieren</a:t>
            </a:r>
          </a:p>
        </p:txBody>
      </p:sp>
      <p:sp>
        <p:nvSpPr>
          <p:cNvPr id="3" name="Content Placeholder 2"/>
          <p:cNvSpPr>
            <a:spLocks noGrp="1"/>
          </p:cNvSpPr>
          <p:nvPr>
            <p:ph idx="1"/>
          </p:nvPr>
        </p:nvSpPr>
        <p:spPr/>
        <p:txBody>
          <a:bodyPr/>
          <a:lstStyle/>
          <a:p>
            <a:pPr>
              <a:defRPr sz="1800"/>
            </a:pPr>
            <a:r>
              <a:t>Verschattung, Speichermasse und Nachtlüftung erfüllen unterschiedliche Aufgaben. Außenliegender Sonnenschutz reduziert den Wärmeeintrag, Speichermasse glättet verbleibende Temperaturspitzen, und Nachtlüftung entlädt die aufgeheizten Bauteile. Diese Kombination bildet den sommerlichen Hitzeschutz im Dachgeschoss: bauliche Mittel vor jeder Technik. Erst wenn sie umfassend umgesetzt sind, erscheint eine zusätzliche technische Lösung sinnvoll, etwa eine dezentrale Lüftung mit Wärmerückgewinnung oder eine bedarfsgerechte Kühlung über die Heizungsanlage. Wer bereits plant, sollte frühzeitig klären, wo außenliegender Sonnenschutz vorgesehen wird, we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Hebel sinnvoll kombinieren</a:t>
            </a:r>
          </a:p>
        </p:txBody>
      </p:sp>
      <p:sp>
        <p:nvSpPr>
          <p:cNvPr id="3" name="Content Placeholder 2"/>
          <p:cNvSpPr>
            <a:spLocks noGrp="1"/>
          </p:cNvSpPr>
          <p:nvPr>
            <p:ph idx="1"/>
          </p:nvPr>
        </p:nvSpPr>
        <p:spPr/>
        <p:txBody>
          <a:bodyPr/>
          <a:lstStyle/>
          <a:p>
            <a:pPr>
              <a:defRPr sz="1800"/>
            </a:pPr>
            <a:r>
              <a:t>lche Innenflächen Wärme speichern können und wie Wärme nachts aus dem Dachraum gelangt.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Sommerlicher Hitzeschutz im Dachgeschoss: bauliche Mittel vor jeder Technik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