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hamburg.blogspot.com/2026/10/feuchteschutz-bei-holzbau-in-der.html" TargetMode="External"/><Relationship Id="rId3" Type="http://schemas.openxmlformats.org/officeDocument/2006/relationships/hyperlink" Target="https://holzundhaus.github.io/holzwerkhamburg/dateien/minimax-b982d760b98ab24797483fd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bei Holzbau in der Bauphase: Warum die Montagereihenfolge über die spätere Schadensfreiheit entscheidet · Erklärende Präsentation</a:t>
            </a:r>
          </a:p>
        </p:txBody>
      </p:sp>
      <p:sp>
        <p:nvSpPr>
          <p:cNvPr id="3" name="Content Placeholder 2"/>
          <p:cNvSpPr>
            <a:spLocks noGrp="1"/>
          </p:cNvSpPr>
          <p:nvPr>
            <p:ph idx="1"/>
          </p:nvPr>
        </p:nvSpPr>
        <p:spPr/>
        <p:txBody>
          <a:bodyPr/>
          <a:lstStyle/>
          <a:p>
            <a:r>
              <a:t>Überblick: Zwischen der Anlieferung vorgefertigter Holzelemente und dem Einzug liegt ein Zeitfenster, in dem die Weichen für die spätere Schadensfreiheit gestellt werden. Was in dieser Phase an Feuchte ins Gebäude gelangt, lässt sich oft erst nach Jahren vollständig erkennen. Der Schutz des Holzbaus während der Errichtung ist daher kein nachrangiges Thema, sondern ein planerischer Baustein, der in jeder Ausschreibung und jedem Bauablauf seinen Platz haben sollte. Die folgenden Abschnitte fassen zusammen, worauf es bei Feuchteschutz in der Holzbau-Bauphase ankommt – von der Montagereihenfolge über typische Feuchtequellen bis zu den Schritten,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Bauphase beim Holzbau besonders kritisch ist</a:t>
            </a:r>
          </a:p>
        </p:txBody>
      </p:sp>
      <p:sp>
        <p:nvSpPr>
          <p:cNvPr id="3" name="Content Placeholder 2"/>
          <p:cNvSpPr>
            <a:spLocks noGrp="1"/>
          </p:cNvSpPr>
          <p:nvPr>
            <p:ph idx="1"/>
          </p:nvPr>
        </p:nvSpPr>
        <p:spPr/>
        <p:txBody>
          <a:bodyPr/>
          <a:lstStyle/>
          <a:p>
            <a:pPr>
              <a:defRPr sz="1800"/>
            </a:pPr>
            <a:r>
              <a:t>Holz und Holzwerkstoffe reagieren auf Feuchte deutlich stärker als viele andere Baustoffe. Werkseitig vorgefertigte Elemente werden mit einem definierten Holzfeuchtegehalt angeliefert. Auf der Baustelle ändern sich die Bedingungen schlagartig: Regen, Tau, stehende Nässe auf Planen und wechselnde Temperaturen setzen den Bauteilen zu. Die Zeit zwischen Anlieferung und Bezug ist daher der Moment, in dem durchdachte Schutzmaßnahmen den Unterschied zwischen einem schadensfreien Bauwerk und einem Gebäude ausmachen, das nachträglich aufwendig instand gesetzt werden muss. Anders als bei Massivbauweisen kann eingebrachte Feuchte in Hohlräume, Stöße 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Bauphase beim Holzbau besonders kritisch ist</a:t>
            </a:r>
          </a:p>
        </p:txBody>
      </p:sp>
      <p:sp>
        <p:nvSpPr>
          <p:cNvPr id="3" name="Content Placeholder 2"/>
          <p:cNvSpPr>
            <a:spLocks noGrp="1"/>
          </p:cNvSpPr>
          <p:nvPr>
            <p:ph idx="1"/>
          </p:nvPr>
        </p:nvSpPr>
        <p:spPr/>
        <p:txBody>
          <a:bodyPr/>
          <a:lstStyle/>
          <a:p>
            <a:pPr>
              <a:defRPr sz="1800"/>
            </a:pPr>
            <a:r>
              <a:t>d Schwellen wandern und dort dauerhaft verbleiben.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Feuchtequellen erkennen und benennen</a:t>
            </a:r>
          </a:p>
        </p:txBody>
      </p:sp>
      <p:sp>
        <p:nvSpPr>
          <p:cNvPr id="3" name="Content Placeholder 2"/>
          <p:cNvSpPr>
            <a:spLocks noGrp="1"/>
          </p:cNvSpPr>
          <p:nvPr>
            <p:ph idx="1"/>
          </p:nvPr>
        </p:nvSpPr>
        <p:spPr/>
        <p:txBody>
          <a:bodyPr/>
          <a:lstStyle/>
          <a:p>
            <a:pPr>
              <a:defRPr sz="1800"/>
            </a:pPr>
            <a:r>
              <a:t>Um Feuchteschäden zu vermeiden, müssen zunächst die häufigsten Ursachen bekannt sein. Niederschlag trifft auf ungeschützte Bauteile wie liegende Elemente, offene Dachflächen oder noch nicht geschlossene Wandbereiche. Tauwasser bildet sich an kalten Oberflächen vor allem in den Morgenstunden und in der kühlen Jahreszeit. Baustellenfeuchte aus Putz-, Estrich- und Mörtelarbeiten anderer Gewerke wandert in den Holzbau, wenn keine räumliche Trennung erfolgt. Auch Bodenkontakt durch Pfützen unter Schwellen, fehlende Sauberkeitsschichten oder unzureichender Spritzwasserschutz am Sockel gehören zu den typischen Problemquellen. Schließlich können unsa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Feuchtequellen erkennen und benennen</a:t>
            </a:r>
          </a:p>
        </p:txBody>
      </p:sp>
      <p:sp>
        <p:nvSpPr>
          <p:cNvPr id="3" name="Content Placeholder 2"/>
          <p:cNvSpPr>
            <a:spLocks noGrp="1"/>
          </p:cNvSpPr>
          <p:nvPr>
            <p:ph idx="1"/>
          </p:nvPr>
        </p:nvSpPr>
        <p:spPr/>
        <p:txBody>
          <a:bodyPr/>
          <a:lstStyle/>
          <a:p>
            <a:pPr>
              <a:defRPr sz="1800"/>
            </a:pPr>
            <a:r>
              <a:t>chgemäß verlegte oder beschädigte Dichtebenen und Folien Diffusion begünstigen, statt sie zu verhindern.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Schutzmaßnahmen als fester Bestandteil der Holzbauleistung</a:t>
            </a:r>
          </a:p>
        </p:txBody>
      </p:sp>
      <p:sp>
        <p:nvSpPr>
          <p:cNvPr id="3" name="Content Placeholder 2"/>
          <p:cNvSpPr>
            <a:spLocks noGrp="1"/>
          </p:cNvSpPr>
          <p:nvPr>
            <p:ph idx="1"/>
          </p:nvPr>
        </p:nvSpPr>
        <p:spPr/>
        <p:txBody>
          <a:bodyPr/>
          <a:lstStyle/>
          <a:p>
            <a:pPr>
              <a:defRPr sz="1800"/>
            </a:pPr>
            <a:r>
              <a:t>Die Vorfertigung im Werk entbindet nicht von der Pflicht, den Feuchteschutz auf der Baustelle sicherzustellen. Zum Umfang einer Holzbauleistung sollten daher ausdrücklich Schutzmaßnahmen gehören: Transportschutz und Abdeckplanen bei Anlieferung, eine abgestimmte Montagereihenfolge, in der Elemente aufgestellt und sofort gesichert werden, provisorische Abdichtungen an Schwellen, Balkon- und Terrassenanschlüssen sowie der gezielte Schutz von Hohlräumen, Stößen und Öffnungen. Wer diese Maßnahmen nicht benennt, riskiert, dass der Feuchteschutz in der Praxis lückenhaft bleibt und Schnittstellenprobleme zwischen den Gewerken entstehen.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Trocknung ermöglichen, bevor die Hülle geschlossen wird</a:t>
            </a:r>
          </a:p>
        </p:txBody>
      </p:sp>
      <p:sp>
        <p:nvSpPr>
          <p:cNvPr id="3" name="Content Placeholder 2"/>
          <p:cNvSpPr>
            <a:spLocks noGrp="1"/>
          </p:cNvSpPr>
          <p:nvPr>
            <p:ph idx="1"/>
          </p:nvPr>
        </p:nvSpPr>
        <p:spPr/>
        <p:txBody>
          <a:bodyPr/>
          <a:lstStyle/>
          <a:p>
            <a:pPr>
              <a:defRPr sz="1800"/>
            </a:pPr>
            <a:r>
              <a:t>Schutz reicht allein nicht aus, wenn einmal Feuchte eingetreten ist. Diffusionsoffene Bauteile lassen sich durch gezielte Querlüftung trocknen, solange die Hülle noch nicht geschlossen ist. Geschlossene, ungelüftete Räume mit hoher Luftfeuchtigkeit bremsen diesen Prozess deutlich aus. Vor dem Schließen der Beplankung und vor dem Einbringen der Dämmung gibt eine Holzfeuchtemessung Aufschluss darüber, ob die Bauteile den vom Hersteller vorgegebenen Zielwert erreicht haben. Liegt die Messung darüber, sollte die Trocknungsphase verlängert werden. Auch die Abstimmung mit anderen Gewerken spielt eine Rolle: Estrich- und Putzarbeiten bringen erhebli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Trocknung ermöglichen, bevor die Hülle geschlossen wird</a:t>
            </a:r>
          </a:p>
        </p:txBody>
      </p:sp>
      <p:sp>
        <p:nvSpPr>
          <p:cNvPr id="3" name="Content Placeholder 2"/>
          <p:cNvSpPr>
            <a:spLocks noGrp="1"/>
          </p:cNvSpPr>
          <p:nvPr>
            <p:ph idx="1"/>
          </p:nvPr>
        </p:nvSpPr>
        <p:spPr/>
        <p:txBody>
          <a:bodyPr/>
          <a:lstStyle/>
          <a:p>
            <a:pPr>
              <a:defRPr sz="1800"/>
            </a:pPr>
            <a:r>
              <a:t>che Wassermengen in das Gebäude ein. Erfolgen sie vor der Holzbauabnahme, muss die Feuchteabgabe einkalkuliert und durch Lüftung oder technische Trocknung abgefangen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Montagereihenfolge und Schnittstellen früh klären</a:t>
            </a:r>
          </a:p>
        </p:txBody>
      </p:sp>
      <p:sp>
        <p:nvSpPr>
          <p:cNvPr id="3" name="Content Placeholder 2"/>
          <p:cNvSpPr>
            <a:spLocks noGrp="1"/>
          </p:cNvSpPr>
          <p:nvPr>
            <p:ph idx="1"/>
          </p:nvPr>
        </p:nvSpPr>
        <p:spPr/>
        <p:txBody>
          <a:bodyPr/>
          <a:lstStyle/>
          <a:p>
            <a:pPr>
              <a:defRPr sz="1800"/>
            </a:pPr>
            <a:r>
              <a:t>In der Leistungsbeschreibung sollte die Montagereihenfolge konkret benannt werden: Aufstellung der Elemente, sofortige Witterungssicherung, Schließen der Hülle, Beginn der Trocknungsphase und Freigabe für nachfolgende Gewerke. Nur so lässt sich später nachvollziehen, wer für welchen Feuchtezustand verantwortlich war. Schnittstellen – etwa zu Putz- oder Estricharbeiten – müssen früh festgelegt werden, um Doppelarbeiten und Feuchtezutritt zu vermeiden. Eine Ausschreibung, die diese Punkte offen lässt, überlässt den Feuchteschutz dem Zufall.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Bauherren vor der Anfrage klären sollten</a:t>
            </a:r>
          </a:p>
        </p:txBody>
      </p:sp>
      <p:sp>
        <p:nvSpPr>
          <p:cNvPr id="3" name="Content Placeholder 2"/>
          <p:cNvSpPr>
            <a:spLocks noGrp="1"/>
          </p:cNvSpPr>
          <p:nvPr>
            <p:ph idx="1"/>
          </p:nvPr>
        </p:nvSpPr>
        <p:spPr/>
        <p:txBody>
          <a:bodyPr/>
          <a:lstStyle/>
          <a:p>
            <a:pPr>
              <a:defRPr sz="1800"/>
            </a:pPr>
            <a:r>
              <a:t>Wer eine belastbare Anfrage zur Holzbauleistung stellen möchte, sollte Angaben zum geplanten Bauablauf, zur voraussichtlichen Witterung im Errichtungszeitraum und zu angrenzenden Gewerken bereithalten. Hinweise zur gewünschten Montagereihenfolge und zur Schutzstrategie ermöglichen eine realistische Einordnung des Aufwands über reine Quadratmeterzahlen hinaus. Eine gute Vorbereitung beschleunigt nicht nur die Angebotserstellung, sondern schafft auch Klarheit darüber, welche Leistungen im Einzelnen erwartet werden und wo Eigenverantwortung des Bauherren beginnt.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Feuchteschutz bei Holzbau in der Bauphase: Warum die Montagereihenfolge über die spätere Schadensfreiheit entscheidet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