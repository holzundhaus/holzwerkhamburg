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hamburg/holzterrasse-bestand-sanieren-statt-neu-aufbauen/" TargetMode="External"/><Relationship Id="rId3" Type="http://schemas.openxmlformats.org/officeDocument/2006/relationships/hyperlink" Target="https://holzundhaus.github.io/holzwerkhamburg/dateien/minimax-52e04cd3f2bedc6d327c0dc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Holzterrasse im Bestand saniert werden kann – und wann nicht · Erklärende Präsentation</a:t>
            </a:r>
          </a:p>
        </p:txBody>
      </p:sp>
      <p:sp>
        <p:nvSpPr>
          <p:cNvPr id="3" name="Content Placeholder 2"/>
          <p:cNvSpPr>
            <a:spLocks noGrp="1"/>
          </p:cNvSpPr>
          <p:nvPr>
            <p:ph idx="1"/>
          </p:nvPr>
        </p:nvSpPr>
        <p:spPr/>
        <p:txBody>
          <a:bodyPr/>
          <a:lstStyle/>
          <a:p>
            <a:r>
              <a:t>Überblick: Eine Holzterrasse wird häufig vorrangig anhand ihres Belags beurteilt. Für eine dauerhaft sichere Nutzung ist jedoch der gesamte Aufbau entscheidend: Untergrund, Auflager, Unterkonstruktion, Wasserführung und Anschlüsse müssen zusammen funktionieren. Der folgende Leitfaden zeigt, wie sich eine bestehende Terrasse sinnvoll sanieren lässt und wann ein vollständiger Neuaufbau erforderlich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Sanierung im Bestand ausreicht</a:t>
            </a:r>
          </a:p>
        </p:txBody>
      </p:sp>
      <p:sp>
        <p:nvSpPr>
          <p:cNvPr id="3" name="Content Placeholder 2"/>
          <p:cNvSpPr>
            <a:spLocks noGrp="1"/>
          </p:cNvSpPr>
          <p:nvPr>
            <p:ph idx="1"/>
          </p:nvPr>
        </p:nvSpPr>
        <p:spPr/>
        <p:txBody>
          <a:bodyPr/>
          <a:lstStyle/>
          <a:p>
            <a:pPr>
              <a:defRPr sz="1800"/>
            </a:pPr>
            <a:r>
              <a:t>Eine Sanierung kommt zunächst infrage, wenn das Traggerüst aus Untergrund, Unterkonstruktion und Anschlüssen noch funktioniert. Ein neuer Dielenbelag allein verbessert weder die Tragfähigkeit noch das Feuchteverhalten. Deshalb sollte vor der Materialwahl geklärt werden, ob nur die Optik stört oder ob funktionale Probleme bestehen.</a:t>
            </a:r>
          </a:p>
          <a:p>
            <a:pPr>
              <a:defRPr sz="1800"/>
            </a:pPr>
          </a:p>
          <a:p>
            <a:pPr>
              <a:defRPr sz="1800"/>
            </a:pPr>
            <a:r>
              <a:t>Optische Gründe sind etwa vergraute, fleckige oder verwitterte Oberflächen, einzelne defekte Dielen oder ein nicht mehr passender Farbton. Funktionale Gründe sind dagegen schwingende Bereiche, morsche Dielen, stehendes Wasser, Pilzbefall, nachgebende Auflager oder Feuchte an Hauswand und Türen. Wenn nur die Oberflä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Sanierung im Bestand ausreicht</a:t>
            </a:r>
          </a:p>
        </p:txBody>
      </p:sp>
      <p:sp>
        <p:nvSpPr>
          <p:cNvPr id="3" name="Content Placeholder 2"/>
          <p:cNvSpPr>
            <a:spLocks noGrp="1"/>
          </p:cNvSpPr>
          <p:nvPr>
            <p:ph idx="1"/>
          </p:nvPr>
        </p:nvSpPr>
        <p:spPr/>
        <p:txBody>
          <a:bodyPr/>
          <a:lstStyle/>
          <a:p>
            <a:pPr>
              <a:defRPr sz="1800"/>
            </a:pPr>
            <a:r>
              <a:t>che erneuert werden muss, können Dielenmaterial und Befestigung auf die vorhandene Unterkonstruktion abgestimmt werden. Die Hinweise zur [Sanierung einer Holzterrasse im Bestand](https://holzundhaus.github.io/holzwerkhamburg/holzterrasse-bestand-sanieren-statt-neu-aufbauen/) helfen dabei, die Ausgangslage realistisch einzuordnen.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Prüfkriterien</a:t>
            </a:r>
          </a:p>
        </p:txBody>
      </p:sp>
      <p:sp>
        <p:nvSpPr>
          <p:cNvPr id="3" name="Content Placeholder 2"/>
          <p:cNvSpPr>
            <a:spLocks noGrp="1"/>
          </p:cNvSpPr>
          <p:nvPr>
            <p:ph idx="1"/>
          </p:nvPr>
        </p:nvSpPr>
        <p:spPr/>
        <p:txBody>
          <a:bodyPr/>
          <a:lstStyle/>
          <a:p>
            <a:pPr>
              <a:defRPr sz="1800"/>
            </a:pPr>
            <a:r>
              <a:t>Der Untergrund muss die Lasten aus Belag, Unterkonstruktion und Nutzung dauerhaft aufnehmen. Punktfundamente, Plattenlager oder Streifenfundamente müssen standsicher, frostfrei und tragfähig sein. Lose, abgesackte oder gerissene Auflager weisen darauf hin, dass der Bestand nicht unverändert weiterverwendet werden kann.</a:t>
            </a:r>
          </a:p>
          <a:p>
            <a:pPr>
              <a:defRPr sz="1800"/>
            </a:pPr>
          </a:p>
          <a:p>
            <a:pPr>
              <a:defRPr sz="1800"/>
            </a:pPr>
            <a:r>
              <a:t>Auch die Unterkonstruktion muss geprüft werden. Morsches, verformtes oder von Fäulnis betroffenes Holz gehört erneuert. Verfärbungen, weiche Stellen, dunkle Streifen an Auflagern oder Schimmel können auf Feuchteprobleme hindeuten. Holz altert im Schatten und bei Bodenkontakt langsamer, wenn es belüftet ist; dauerhaft feuchte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wichtigsten Prüfkriterien</a:t>
            </a:r>
          </a:p>
        </p:txBody>
      </p:sp>
      <p:sp>
        <p:nvSpPr>
          <p:cNvPr id="3" name="Content Placeholder 2"/>
          <p:cNvSpPr>
            <a:spLocks noGrp="1"/>
          </p:cNvSpPr>
          <p:nvPr>
            <p:ph idx="1"/>
          </p:nvPr>
        </p:nvSpPr>
        <p:spPr/>
        <p:txBody>
          <a:bodyPr/>
          <a:lstStyle/>
          <a:p>
            <a:pPr>
              <a:defRPr sz="1800"/>
            </a:pPr>
            <a:r>
              <a:t>der schlecht durchlüftete Bereiche bleiben dennoch ein Risiko. Weitere Hinweise bietet die Übersicht zur [Unterkonstruktion und zum Aufbau einer Holzterrasse](https://holzundhaus.github.io/holzwerkhamburg/holzterrasse-bestand-sanieren-statt-neu-aufbauen/).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Anschlüsse entscheiden über die Haltbarkeit</a:t>
            </a:r>
          </a:p>
        </p:txBody>
      </p:sp>
      <p:sp>
        <p:nvSpPr>
          <p:cNvPr id="3" name="Content Placeholder 2"/>
          <p:cNvSpPr>
            <a:spLocks noGrp="1"/>
          </p:cNvSpPr>
          <p:nvPr>
            <p:ph idx="1"/>
          </p:nvPr>
        </p:nvSpPr>
        <p:spPr/>
        <p:txBody>
          <a:bodyPr/>
          <a:lstStyle/>
          <a:p>
            <a:pPr>
              <a:defRPr sz="1800"/>
            </a:pPr>
            <a:r>
              <a:t>Stehendes Wasser unter und neben der Terrasse ist ein häufiger Auslöser für Folgeschäden. Regenwasser sollte ungehindert ablaufen und verdunsten können. Dazu gehören ein ausreichendes Gefälle der Belagsebene, in der Regel zwei Prozent vom Haus weg, ein angemessener Abstand zu Hauswand und angrenzenden Bauteilen, durchgehende Luftwege unter dem Belag sowie saubere Anschlüsse an Lichtschächten, Fallrohren und Türschwellen.</a:t>
            </a:r>
          </a:p>
          <a:p>
            <a:pPr>
              <a:defRPr sz="1800"/>
            </a:pPr>
          </a:p>
          <a:p>
            <a:pPr>
              <a:defRPr sz="1800"/>
            </a:pPr>
            <a:r>
              <a:t>Besonders kritisch ist der Übergang zur Terrassentür. Ein nicht passendes Höhenniveau, mehrfaches Nachdoppeln oder eine zu hohe Oberkante des Belags kann Wasser ins Gebäude drücken lassen. Auch ein nicht mehr funktionsfähige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Anschlüsse entscheiden über die Haltbarkeit</a:t>
            </a:r>
          </a:p>
        </p:txBody>
      </p:sp>
      <p:sp>
        <p:nvSpPr>
          <p:cNvPr id="3" name="Content Placeholder 2"/>
          <p:cNvSpPr>
            <a:spLocks noGrp="1"/>
          </p:cNvSpPr>
          <p:nvPr>
            <p:ph idx="1"/>
          </p:nvPr>
        </p:nvSpPr>
        <p:spPr/>
        <p:txBody>
          <a:bodyPr/>
          <a:lstStyle/>
          <a:p>
            <a:pPr>
              <a:defRPr sz="1800"/>
            </a:pPr>
            <a:r>
              <a:t>r Wasserabschluss am Rahmen muss vor einer neuen Belagerung geklärt werden. Ein schöner Belag hilft nicht, wenn die Ursache im Aufbau oder in der Wasserführung liegt.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mögliche Sanierungswege</a:t>
            </a:r>
          </a:p>
        </p:txBody>
      </p:sp>
      <p:sp>
        <p:nvSpPr>
          <p:cNvPr id="3" name="Content Placeholder 2"/>
          <p:cNvSpPr>
            <a:spLocks noGrp="1"/>
          </p:cNvSpPr>
          <p:nvPr>
            <p:ph idx="1"/>
          </p:nvPr>
        </p:nvSpPr>
        <p:spPr/>
        <p:txBody>
          <a:bodyPr/>
          <a:lstStyle/>
          <a:p>
            <a:pPr>
              <a:defRPr sz="1800"/>
            </a:pPr>
            <a:r>
              <a:t>Erstens kann der Belag erneuert werden, während der Unterbau erhalten bleibt. Das ist möglich, wenn Untergrund, Auflager, Unterkonstruktion und Wasserführung in Ordnung sind und lediglich der Dielenbelag verschlissen ist.</a:t>
            </a:r>
          </a:p>
          <a:p>
            <a:pPr>
              <a:defRPr sz="1800"/>
            </a:pPr>
          </a:p>
          <a:p>
            <a:pPr>
              <a:defRPr sz="1800"/>
            </a:pPr>
            <a:r>
              <a:t>Zweitens können Belag und Unterkonstruktion erneuert werden, während die vorhandene Auflagerstruktur genutzt wird. Das ist etwa sinnvoll, wenn die Dielen verbraucht oder Befestigungen versagt haben, die Hölzer der Unterkonstruktion aber noch nutzbar sind.</a:t>
            </a:r>
          </a:p>
          <a:p>
            <a:pPr>
              <a:defRPr sz="1800"/>
            </a:pPr>
          </a:p>
          <a:p>
            <a:pPr>
              <a:defRPr sz="1800"/>
            </a:pPr>
            <a:r>
              <a:t>Drittens ist ein vollständiger Neuaufbau erforderlich, wenn Untergrund, Auflager oder Anschlüsse nicht mehr den Anforderungen entsprechen. Ein Neubau kann außerdem sinnvo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mögliche Sanierungswege</a:t>
            </a:r>
          </a:p>
        </p:txBody>
      </p:sp>
      <p:sp>
        <p:nvSpPr>
          <p:cNvPr id="3" name="Content Placeholder 2"/>
          <p:cNvSpPr>
            <a:spLocks noGrp="1"/>
          </p:cNvSpPr>
          <p:nvPr>
            <p:ph idx="1"/>
          </p:nvPr>
        </p:nvSpPr>
        <p:spPr/>
        <p:txBody>
          <a:bodyPr/>
          <a:lstStyle/>
          <a:p>
            <a:pPr>
              <a:defRPr sz="1800"/>
            </a:pPr>
            <a:r>
              <a:t>ll sein, wenn sich Nutzung oder Geometrie wesentlich ändern, beispielsweise bei einer größeren Fläche, einem anderen Material oder einer geplanten Überdachung.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vorbereitet werden sollte</a:t>
            </a:r>
          </a:p>
        </p:txBody>
      </p:sp>
      <p:sp>
        <p:nvSpPr>
          <p:cNvPr id="3" name="Content Placeholder 2"/>
          <p:cNvSpPr>
            <a:spLocks noGrp="1"/>
          </p:cNvSpPr>
          <p:nvPr>
            <p:ph idx="1"/>
          </p:nvPr>
        </p:nvSpPr>
        <p:spPr/>
        <p:txBody>
          <a:bodyPr/>
          <a:lstStyle/>
          <a:p>
            <a:pPr>
              <a:defRPr sz="1800"/>
            </a:pPr>
            <a:r>
              <a:t>Für eine belastbare Einschätzung sollte die Ausgangslage konkret beschrieben werden. Nützlich sind Angaben zur Fläche und Geometrie, zu Höhenanschlüssen an Türen und Hauswand, zum vorhandenen Untergrund und zu den Auflagern sowie zum gewünschten Material und einer eventuellen Überdachung. Auch Baualter und sichtbare Schäden gehören in die Anfrage.</a:t>
            </a:r>
          </a:p>
          <a:p>
            <a:pPr>
              <a:defRPr sz="1800"/>
            </a:pPr>
          </a:p>
          <a:p>
            <a:pPr>
              <a:defRPr sz="1800"/>
            </a:pPr>
            <a:r>
              <a:t>Bei der Auswahl von Holz, Fugenbild, Auflagerabständen und Befestigung sollten Herstellerangaben und Nachweise zum Dielenmaterial berücksichtigt werden. Unbehandelte Hölzer verändern sich durch Bewitterung sichtbar; eine gewünschte Beschichtung verlangt zusätzlich Planung für die spätere Pflege. Au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vorbereitet werden sollte</a:t>
            </a:r>
          </a:p>
        </p:txBody>
      </p:sp>
      <p:sp>
        <p:nvSpPr>
          <p:cNvPr id="3" name="Content Placeholder 2"/>
          <p:cNvSpPr>
            <a:spLocks noGrp="1"/>
          </p:cNvSpPr>
          <p:nvPr>
            <p:ph idx="1"/>
          </p:nvPr>
        </p:nvSpPr>
        <p:spPr/>
        <p:txBody>
          <a:bodyPr/>
          <a:lstStyle/>
          <a:p>
            <a:pPr>
              <a:defRPr sz="1800"/>
            </a:pPr>
            <a:r>
              <a:t>stauschbare Dielen und zugängliche Ränder erleichtern künftige Arbeiten. Da sich bauliche Anforderungen ändern können, sollten die aktuellen Grundlagen und die konkrete Grundstückssituation vor der Entscheidung geprüft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Wann eine Holzterrasse im Bestand saniert werden kann – und wann nicht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