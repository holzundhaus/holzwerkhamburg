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hamburg.tumblr.com/post/830746574932131840/waerme-feuchte-schallschutz-holzrahmenbauwand-schichtenf" TargetMode="External"/><Relationship Id="rId3" Type="http://schemas.openxmlformats.org/officeDocument/2006/relationships/hyperlink" Target="https://holzundhaus.github.io/holzwerkhamburg/dateien/minimax-e17fdf5ce89c47550adb333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 Feuchte- und Schallschutz in einer Holzrahmenbauwand im Detail · Erklärende Präsentation</a:t>
            </a:r>
          </a:p>
        </p:txBody>
      </p:sp>
      <p:sp>
        <p:nvSpPr>
          <p:cNvPr id="3" name="Content Placeholder 2"/>
          <p:cNvSpPr>
            <a:spLocks noGrp="1"/>
          </p:cNvSpPr>
          <p:nvPr>
            <p:ph idx="1"/>
          </p:nvPr>
        </p:nvSpPr>
        <p:spPr/>
        <p:txBody>
          <a:bodyPr/>
          <a:lstStyle/>
          <a:p>
            <a:r>
              <a:t>Überblick: Eine Holzrahmenbauwand ist mehr als eine Sammmlung einzelner Baustoffe. Ständerwerk, Dämmung, Luftdichtheitsebene und Außenhaut bilden ein Zusammenspiel, das über den langfristigen Wohnkomfort entscheidet. Wer die Zusammenhänge zwischen Wärmeschutz, Feuchteschutz und Schallschutz kennt, kann bereits in der Planungsphase die richtigen Weichen stellen und kostspielige Nachbesserungen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jeder Schutz auf den anderen angewiesen ist</a:t>
            </a:r>
          </a:p>
        </p:txBody>
      </p:sp>
      <p:sp>
        <p:nvSpPr>
          <p:cNvPr id="3" name="Content Placeholder 2"/>
          <p:cNvSpPr>
            <a:spLocks noGrp="1"/>
          </p:cNvSpPr>
          <p:nvPr>
            <p:ph idx="1"/>
          </p:nvPr>
        </p:nvSpPr>
        <p:spPr/>
        <p:txBody>
          <a:bodyPr/>
          <a:lstStyle/>
          <a:p>
            <a:pPr>
              <a:defRPr sz="1800"/>
            </a:pPr>
            <a:r>
              <a:t>Wärmedämmung allein hält ein Haus nicht dauerhaft trocken, und auch der beste Schallschutz funktioniert nur, wenn die Konstruktion luftdicht ausgeführt ist. In einer Holzrahmenbauwand greifen mehrere Funktionen ineinander: Das Ständerwerk trägt die Last, die Gefachdämmung schützt vor Wärmeverlusten, eine sorgfältig verlegte Luftdichtheitsebene verhindert unkontrollierte Luftströmungen durch die Wand, und die äußere Schicht leitet Regen und Schnee zuverlässig ab. Fehlt eine dieser Komponenten oder ist sie falsch dimensioniert, geraten die anderen ins Wanken. Ein feuchter Dämmstoff verliert seine isolierende Wirkung, und eine unterbrochene Luft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jeder Schutz auf den anderen angewiesen ist</a:t>
            </a:r>
          </a:p>
        </p:txBody>
      </p:sp>
      <p:sp>
        <p:nvSpPr>
          <p:cNvPr id="3" name="Content Placeholder 2"/>
          <p:cNvSpPr>
            <a:spLocks noGrp="1"/>
          </p:cNvSpPr>
          <p:nvPr>
            <p:ph idx="1"/>
          </p:nvPr>
        </p:nvSpPr>
        <p:spPr/>
        <p:txBody>
          <a:bodyPr/>
          <a:lstStyle/>
          <a:p>
            <a:pPr>
              <a:defRPr sz="1800"/>
            </a:pPr>
            <a:r>
              <a:t>dichtheitsebene öffnet Wärme und Schall zusätzliche Wege nach draußen.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Planungsreihenfolge von innen nach außen</a:t>
            </a:r>
          </a:p>
        </p:txBody>
      </p:sp>
      <p:sp>
        <p:nvSpPr>
          <p:cNvPr id="3" name="Content Placeholder 2"/>
          <p:cNvSpPr>
            <a:spLocks noGrp="1"/>
          </p:cNvSpPr>
          <p:nvPr>
            <p:ph idx="1"/>
          </p:nvPr>
        </p:nvSpPr>
        <p:spPr/>
        <p:txBody>
          <a:bodyPr/>
          <a:lstStyle/>
          <a:p>
            <a:pPr>
              <a:defRPr sz="1800"/>
            </a:pPr>
            <a:r>
              <a:t>Bevor die erste Latte montiert wird, lohnt sich ein systematischer Blick auf den gesamten Wandaufbau. Von der Innenseite her gedacht, beginnt die Planung mit der Frage, wo Leitungen verlaufen sollen. Eine Installationsebene schafft Platz für Elektrik und Sanitär, ohne die luftdichte Hülle zu beschädigen. Dann folgt die Dampfbremse oder feuchtevariable Bahn, die an jedem Stoß und jeder Durchdringung sorgfältig verklebt werden muss. Erst danach kommen die tragenden Teile: Ständerwerk und Gefachdämmung, ergänzt durch eine aussteifende Beplankung für horizontale Lasten. Außen schließt eine zusätzliche Dämmschicht die Wärmebrücken am Ständerwerk,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Planungsreihenfolge von innen nach außen</a:t>
            </a:r>
          </a:p>
        </p:txBody>
      </p:sp>
      <p:sp>
        <p:nvSpPr>
          <p:cNvPr id="3" name="Content Placeholder 2"/>
          <p:cNvSpPr>
            <a:spLocks noGrp="1"/>
          </p:cNvSpPr>
          <p:nvPr>
            <p:ph idx="1"/>
          </p:nvPr>
        </p:nvSpPr>
        <p:spPr/>
        <p:txBody>
          <a:bodyPr/>
          <a:lstStyle/>
          <a:p>
            <a:pPr>
              <a:defRPr sz="1800"/>
            </a:pPr>
            <a:r>
              <a:t>bevor die Fassade als witterungsbeständige Oberfläche den Abschluss bildet. Jede dieser Schichten hat einen festen Platz, und das Vertauschen führt fast immer zu Einbußen beim Schutz.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häufigste Schwachstellen</a:t>
            </a:r>
          </a:p>
        </p:txBody>
      </p:sp>
      <p:sp>
        <p:nvSpPr>
          <p:cNvPr id="3" name="Content Placeholder 2"/>
          <p:cNvSpPr>
            <a:spLocks noGrp="1"/>
          </p:cNvSpPr>
          <p:nvPr>
            <p:ph idx="1"/>
          </p:nvPr>
        </p:nvSpPr>
        <p:spPr/>
        <p:txBody>
          <a:bodyPr/>
          <a:lstStyle/>
          <a:p>
            <a:pPr>
              <a:defRPr sz="1800"/>
            </a:pPr>
            <a:r>
              <a:t>Die Wandflächen selbst bereiten selten Probleme, wenn die Verarbeitung stimmt. Gefährlich werden die Übergänge: der Anschluss an Geschossdecke und Bodenplatte, die Fenster- und Türanschlüsse sowie sämtliche Durchdringungen für Rohre und Kabel. Hier muss die Luftdichtheitsebene ohne Unterbrechung weiterlaufen, gleichzeitig dürfen keine Schallbrücken entstehen. Wer bei den Details spart, riskiert nicht nur höhere Heizkosten, sondern auch Tauwasserausfall in der Konstruktion und eine mangelhafte Akustik zwischen den Räumen. Eine zeichnerische Darstellung aller Anschlusssituationen vor Baubeginn gehört daher in jedes fundierte Planungskonzept.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für eine realistische Bewertung nötig sind</a:t>
            </a:r>
          </a:p>
        </p:txBody>
      </p:sp>
      <p:sp>
        <p:nvSpPr>
          <p:cNvPr id="3" name="Content Placeholder 2"/>
          <p:cNvSpPr>
            <a:spLocks noGrp="1"/>
          </p:cNvSpPr>
          <p:nvPr>
            <p:ph idx="1"/>
          </p:nvPr>
        </p:nvSpPr>
        <p:spPr/>
        <p:txBody>
          <a:bodyPr/>
          <a:lstStyle/>
          <a:p>
            <a:pPr>
              <a:defRPr sz="1800"/>
            </a:pPr>
            <a:r>
              <a:t>Ohne konkrete Angaben zu Materialien und Schichtdicken lässt sich der tatsächliche Wärmeschutz einer Holzrahmenbauwand nicht berechnen. Wer eine verlässliche Aussage zum U-Wert, zum sommerlichen Wärmeverhalten oder zum Schallschutz benötigt, sollte folgende Unterlagen zusammentragen: Schichtaufbau mit Materialbezeichnung und Stärke, Wärmeleitfähigkeit der Dämmung einschließlich der Holzständeranteile, Datenblatt und Verarbeitungshinweise zur Luftdichtheitsbahn sowie geplante Anschlussdetails an Nachbarbauteile. Ein Feuchtenachweis prüft, ob sich unter den erwarteten klimatischen Bedingungen kein Schaden bildet, und muss projektspezifisch erst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für eine realistische Bewertung nötig sind</a:t>
            </a:r>
          </a:p>
        </p:txBody>
      </p:sp>
      <p:sp>
        <p:nvSpPr>
          <p:cNvPr id="3" name="Content Placeholder 2"/>
          <p:cNvSpPr>
            <a:spLocks noGrp="1"/>
          </p:cNvSpPr>
          <p:nvPr>
            <p:ph idx="1"/>
          </p:nvPr>
        </p:nvSpPr>
        <p:spPr/>
        <p:txBody>
          <a:bodyPr/>
          <a:lstStyle/>
          <a:p>
            <a:pPr>
              <a:defRPr sz="1800"/>
            </a:pPr>
            <a:r>
              <a:t>ellt werden pauschale Versprechen ohne solche Berechnungen sind nicht belastbar.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Bauphase und lokale Vorschriften beachten</a:t>
            </a:r>
          </a:p>
        </p:txBody>
      </p:sp>
      <p:sp>
        <p:nvSpPr>
          <p:cNvPr id="3" name="Content Placeholder 2"/>
          <p:cNvSpPr>
            <a:spLocks noGrp="1"/>
          </p:cNvSpPr>
          <p:nvPr>
            <p:ph idx="1"/>
          </p:nvPr>
        </p:nvSpPr>
        <p:spPr/>
        <p:txBody>
          <a:bodyPr/>
          <a:lstStyle/>
          <a:p>
            <a:pPr>
              <a:defRPr sz="1800"/>
            </a:pPr>
            <a:r>
              <a:t>Auch die beste Planung kann durch eine nachlässige Ausführung zunichte gemacht werden. Während der Montage ist die Konstruktion besonders anfällig: Feuchtigkeit aus Regen oder Boden kann in offene Wände eindringen und die Dämmung dauerhaft schädigen. Eine durchdachte Montagereihenfolge, bei der die Luftdichtheitsebene möglichst frühzeitig geschlossen wird, schützt die Bauteile. In Hamburg gelten seit Anfang 2026 angepasste Bauvorschriften, die vor jeder Festlegung gegen die konkrete Grundstückssituation geprüft werden sollten. Die Verfahrensfreiheit für bestimmte Vorhaben ersetzt nicht die Einhaltung weitergehender baulicher Vorgaben, die im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Bauphase und lokale Vorschriften beachten</a:t>
            </a:r>
          </a:p>
        </p:txBody>
      </p:sp>
      <p:sp>
        <p:nvSpPr>
          <p:cNvPr id="3" name="Content Placeholder 2"/>
          <p:cNvSpPr>
            <a:spLocks noGrp="1"/>
          </p:cNvSpPr>
          <p:nvPr>
            <p:ph idx="1"/>
          </p:nvPr>
        </p:nvSpPr>
        <p:spPr/>
        <p:txBody>
          <a:bodyPr/>
          <a:lstStyle/>
          <a:p>
            <a:pPr>
              <a:defRPr sz="1800"/>
            </a:pPr>
            <a:r>
              <a:t>Einzelfall greifen können.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 Feuchte- und Schallschutz in einer Holzrahmenbauwand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