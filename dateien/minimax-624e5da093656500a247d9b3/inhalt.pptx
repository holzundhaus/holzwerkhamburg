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hamburg/hamburg-verfahrensfreie-holzbau-vorhaben-uebersicht/" TargetMode="External"/><Relationship Id="rId3" Type="http://schemas.openxmlformats.org/officeDocument/2006/relationships/hyperlink" Target="https://holzundhaus.github.io/holzwerkhamburg/dateien/minimax-624e5da093656500a247d9b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Verfahrensfreie Holzbau-Vorhaben in Hamburg: Überblick und Grenzen · Erklärende Präsentation</a:t>
            </a:r>
          </a:p>
        </p:txBody>
      </p:sp>
      <p:sp>
        <p:nvSpPr>
          <p:cNvPr id="3" name="Content Placeholder 2"/>
          <p:cNvSpPr>
            <a:spLocks noGrp="1"/>
          </p:cNvSpPr>
          <p:nvPr>
            <p:ph idx="1"/>
          </p:nvPr>
        </p:nvSpPr>
        <p:spPr/>
        <p:txBody>
          <a:bodyPr/>
          <a:lstStyle/>
          <a:p>
            <a:r>
              <a:t>Überblick: Ob Carport, Terrassenüberdachung, Vordach, Balkon oder Wintergarten: In Hamburg hängt die Einordnung eines Holzbauvorhabens nicht allein von der Konstruktionsart ab. Entscheidend sind vor allem seine Größe, Geometrie, Lage und Nutzung. Dieser Beitrag strukturiert die Prüfung so, dass vor dem ersten Eingriff geklärt wird, ob ein Vorhaben verfahrensfrei umgesetzt werden kann oder ob weitere Anträge erforderlich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Verfahrensfreiheit ist keine allgemeine Bauerlaubnis</a:t>
            </a:r>
          </a:p>
        </p:txBody>
      </p:sp>
      <p:sp>
        <p:nvSpPr>
          <p:cNvPr id="3" name="Content Placeholder 2"/>
          <p:cNvSpPr>
            <a:spLocks noGrp="1"/>
          </p:cNvSpPr>
          <p:nvPr>
            <p:ph idx="1"/>
          </p:nvPr>
        </p:nvSpPr>
        <p:spPr/>
        <p:txBody>
          <a:bodyPr/>
          <a:lstStyle/>
          <a:p>
            <a:pPr>
              <a:defRPr sz="1800"/>
            </a:pPr>
            <a:r>
              <a:t>Die Verfahrensfreiheit betrifft ausschließlich das behördliche Genehmigungsverfahren. Sie bedeutet nicht, dass beliebige Holzbauten ohne weitere Prüfung zulässig sind. Unabhängig vom gewählten Verfahren gelten beispielsweise die Festsetzungen des Bebauungsplans, Abstands- und Grenzabstandsvorschriften sowie örtliche Anforderungen des zuständigen Bezirksamts. Auch Brandschutz, Baumschutz, Denkmalrecht, Wasserrecht oder straßenrechtliche Anforderungen können zusätzlich berücksichtigt werden. Deshalb sollte ein Vorhaben nicht allein anhand einer allgemeinen Größenangabe beurteilt werden. Die Einschätzung braucht Angaben zum konkreten Standort 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Verfahrensfreiheit ist keine allgemeine Bauerlaubnis</a:t>
            </a:r>
          </a:p>
        </p:txBody>
      </p:sp>
      <p:sp>
        <p:nvSpPr>
          <p:cNvPr id="3" name="Content Placeholder 2"/>
          <p:cNvSpPr>
            <a:spLocks noGrp="1"/>
          </p:cNvSpPr>
          <p:nvPr>
            <p:ph idx="1"/>
          </p:nvPr>
        </p:nvSpPr>
        <p:spPr/>
        <p:txBody>
          <a:bodyPr/>
          <a:lstStyle/>
          <a:p>
            <a:pPr>
              <a:defRPr sz="1800"/>
            </a:pPr>
            <a:r>
              <a:t>d zur vorgesehenen Nutzung. Die Übersicht verfahrensfreier Holzbau-Vorhaben in Hamburg bietet dafür den passenden Einstieg.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Vorprüfung mit einem Lageplan beginnen</a:t>
            </a:r>
          </a:p>
        </p:txBody>
      </p:sp>
      <p:sp>
        <p:nvSpPr>
          <p:cNvPr id="3" name="Content Placeholder 2"/>
          <p:cNvSpPr>
            <a:spLocks noGrp="1"/>
          </p:cNvSpPr>
          <p:nvPr>
            <p:ph idx="1"/>
          </p:nvPr>
        </p:nvSpPr>
        <p:spPr/>
        <p:txBody>
          <a:bodyPr/>
          <a:lstStyle/>
          <a:p>
            <a:pPr>
              <a:defRPr sz="1800"/>
            </a:pPr>
            <a:r>
              <a:t>Ein aussagekräftiger Lageplan ist die wichtigste Grundlage für die Einordnung. Er sollte Grundstücksgrenzen, vorhandene Gebäude, Zufahrten, Abstände und öffentliche Flächen erkennen lassen. Ergänzt werden müssen Angaben zur Grundfläche, Höhe, Dachform, Geschossigkeit und besonderen Geometriemerkmalen. Bei Bestandsgebäuden sind zudem Wandaufbau, Entwässerung und vorhandene Bauteile aufzunehmen. Bei einem Carport sind vor allem Stellfläche, Dachform und Grenzbezug relevant; bei einer Terrassenüberdachung beeinflussen Geometrie, Pfostenpositionen und Wandanschluss die Beurteilung. Der Carport-Baugenehmigungs-Ratgeber zeigt, wie sich diese Angabe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Vorprüfung mit einem Lageplan beginnen</a:t>
            </a:r>
          </a:p>
        </p:txBody>
      </p:sp>
      <p:sp>
        <p:nvSpPr>
          <p:cNvPr id="3" name="Content Placeholder 2"/>
          <p:cNvSpPr>
            <a:spLocks noGrp="1"/>
          </p:cNvSpPr>
          <p:nvPr>
            <p:ph idx="1"/>
          </p:nvPr>
        </p:nvSpPr>
        <p:spPr/>
        <p:txBody>
          <a:bodyPr/>
          <a:lstStyle/>
          <a:p>
            <a:pPr>
              <a:defRPr sz="1800"/>
            </a:pPr>
            <a:r>
              <a:t>n für die Hamburger Vorprüfung zusammenstellen lassen. Damit lässt sich vermeiden, dass ein zunächst unzulässig erscheinendes Vorhaben zu früh geplant oder bestellt wird.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Unterschiedliche Vorhaben verlangen unterschiedliche Nachweise</a:t>
            </a:r>
          </a:p>
        </p:txBody>
      </p:sp>
      <p:sp>
        <p:nvSpPr>
          <p:cNvPr id="3" name="Content Placeholder 2"/>
          <p:cNvSpPr>
            <a:spLocks noGrp="1"/>
          </p:cNvSpPr>
          <p:nvPr>
            <p:ph idx="1"/>
          </p:nvPr>
        </p:nvSpPr>
        <p:spPr/>
        <p:txBody>
          <a:bodyPr/>
          <a:lstStyle/>
          <a:p>
            <a:pPr>
              <a:defRPr sz="1800"/>
            </a:pPr>
            <a:r>
              <a:t>Ein Vordach an einer gedämmten Holzfassade erfordert zusätzliche Überlegungen zur Befestigung durch die Dämmebene. Beim Holzbalkon sind Tragfähigkeit, Geländer und Belag getrennt zu beurteilen, besonders wenn nur einzelne Bauteile erneuert werden. Bei einer Holzterrasse muss zwischen einer Sanierung im Bestand und einem vollständigen Neuaufbau unterschieden werden; Unterkonstruktion und Auflagerabstände sind hier zentrale Fragen. Ein Wintergarten aus Holz kann je nach Nutzung und konstruktiver Ausbildung als Kaltwintergarten oder als Wohnraumerweiterung einzuordnen sein. Anbauten, Aufstockungen und Gauben verschieben die Einordnung erneut. Ei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Unterschiedliche Vorhaben verlangen unterschiedliche Nachweise</a:t>
            </a:r>
          </a:p>
        </p:txBody>
      </p:sp>
      <p:sp>
        <p:nvSpPr>
          <p:cNvPr id="3" name="Content Placeholder 2"/>
          <p:cNvSpPr>
            <a:spLocks noGrp="1"/>
          </p:cNvSpPr>
          <p:nvPr>
            <p:ph idx="1"/>
          </p:nvPr>
        </p:nvSpPr>
        <p:spPr/>
        <p:txBody>
          <a:bodyPr/>
          <a:lstStyle/>
          <a:p>
            <a:pPr>
              <a:defRPr sz="1800"/>
            </a:pPr>
            <a:r>
              <a:t>ne leichte Holzkonstruktion ist nicht automatisch zulässig: Lastreserven des Bestands und die veränderte Dach- oder Wandgeometrie müssen geklärt sein.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Prüfebenen getrennt abwägen</a:t>
            </a:r>
          </a:p>
        </p:txBody>
      </p:sp>
      <p:sp>
        <p:nvSpPr>
          <p:cNvPr id="3" name="Content Placeholder 2"/>
          <p:cNvSpPr>
            <a:spLocks noGrp="1"/>
          </p:cNvSpPr>
          <p:nvPr>
            <p:ph idx="1"/>
          </p:nvPr>
        </p:nvSpPr>
        <p:spPr/>
        <p:txBody>
          <a:bodyPr/>
          <a:lstStyle/>
          <a:p>
            <a:pPr>
              <a:defRPr sz="1800"/>
            </a:pPr>
            <a:r>
              <a:t>Die Prüfung lässt sich in drei Ebenen gliedern. Erstens ist das Planungsrecht zu klären, etwa mit Baugrenze, überbaubarer Grundstücksfläche, Geschossigkeit oder Firstrichtung. Zweitens sind Abstände zu Nachbargrenzen, Gebäuden und öffentlichen Flächen zu prüfen. Drittens können weitere öffentlich-rechtliche Vorschriften greifen. Diese Ebenen sollten nicht vermischt werden: Eine verfahrensfreie Einordnung im Bauordnungsrecht beseitigt weder eine unzulässige Grenzberührung noch einen erforderlichen Antrag nach dem Denkmal- oder Baumschutzrecht. Auch bei historischem Fachwerk in Hamburg sind gesonderte Abstimmungen vor dem ersten Eingriff in das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Prüfebenen getrennt abwägen</a:t>
            </a:r>
          </a:p>
        </p:txBody>
      </p:sp>
      <p:sp>
        <p:nvSpPr>
          <p:cNvPr id="3" name="Content Placeholder 2"/>
          <p:cNvSpPr>
            <a:spLocks noGrp="1"/>
          </p:cNvSpPr>
          <p:nvPr>
            <p:ph idx="1"/>
          </p:nvPr>
        </p:nvSpPr>
        <p:spPr/>
        <p:txBody>
          <a:bodyPr/>
          <a:lstStyle/>
          <a:p>
            <a:pPr>
              <a:defRPr sz="1800"/>
            </a:pPr>
            <a:r>
              <a:t> Holz erforderlich.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Erst nach der Einordnung konstruieren und bestellen</a:t>
            </a:r>
          </a:p>
        </p:txBody>
      </p:sp>
      <p:sp>
        <p:nvSpPr>
          <p:cNvPr id="3" name="Content Placeholder 2"/>
          <p:cNvSpPr>
            <a:spLocks noGrp="1"/>
          </p:cNvSpPr>
          <p:nvPr>
            <p:ph idx="1"/>
          </p:nvPr>
        </p:nvSpPr>
        <p:spPr/>
        <p:txBody>
          <a:bodyPr/>
          <a:lstStyle/>
          <a:p>
            <a:pPr>
              <a:defRPr sz="1800"/>
            </a:pPr>
            <a:r>
              <a:t>Nach der standortbezogenen Vorprüfung folgen Tragwerk, Fundamente und Materialbestellung. Eine frühe Bestellung kann unnötige Kosten verursachen, wenn sich anschließend Abmessungen oder Fundamentpunkte ändern. Bleiben nach der Vorprüfung offene Fragen, kann das zuständige Bezirksamt anhand der geltenden Hamburger Grundlagen klären, ob das konkrete Vorhaben verfahrensfrei möglich ist oder ein Antrag erforderlich wird. Diese Reihenfolge schafft Planungssicherheit: erst Einordnung, dann technische Ausarbeitung, danach Ausführung.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Verfahrensfreie Holzbau-Vorhaben in Hamburg: Überblick und Grenzen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