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hamburg.wordpress.com/2026/10/23/kaltwintergarten-oder-wohnraumerweiterung-vorentscheidung/" TargetMode="External"/><Relationship Id="rId3" Type="http://schemas.openxmlformats.org/officeDocument/2006/relationships/hyperlink" Target="https://holzundhaus.github.io/holzwerkhamburg/dateien/minimax-0699ad7d96fa31d46a06f75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Kaltwintergarten oder Wohnraumerweiterung: Wie Sie die Vorentscheidung vor der Planung treffen · Erklärende Präsentation</a:t>
            </a:r>
          </a:p>
        </p:txBody>
      </p:sp>
      <p:sp>
        <p:nvSpPr>
          <p:cNvPr id="3" name="Content Placeholder 2"/>
          <p:cNvSpPr>
            <a:spLocks noGrp="1"/>
          </p:cNvSpPr>
          <p:nvPr>
            <p:ph idx="1"/>
          </p:nvPr>
        </p:nvSpPr>
        <p:spPr/>
        <p:txBody>
          <a:bodyPr/>
          <a:lstStyle/>
          <a:p>
            <a:r>
              <a:t>Überblick: Ein Wintergarten am Bestandshaus beginnt mit einer Grundsatzfrage: Soll der Anbau als unbeheizter Kaltwintergarten dienen oder als beheizte Wohnraumerweiterung in das Haus eingebunden werden? Diese Entscheidung ist mehr als eine Begriffsfrage. Sie beeinflusst Wärmeschutz, Dichtheit, Haustechnik, Lüftung, den Anschluss an den Bestand und die öffentlich-rechtliche Einordnung. Wer sie vor der Detailplanung klärt, vermeidet, dass Verglasung und Ausstattung auf einer nicht passenden Grundlage entwickelt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Nutzung entscheidet über den technischen Anspruch</a:t>
            </a:r>
          </a:p>
        </p:txBody>
      </p:sp>
      <p:sp>
        <p:nvSpPr>
          <p:cNvPr id="3" name="Content Placeholder 2"/>
          <p:cNvSpPr>
            <a:spLocks noGrp="1"/>
          </p:cNvSpPr>
          <p:nvPr>
            <p:ph idx="1"/>
          </p:nvPr>
        </p:nvSpPr>
        <p:spPr/>
        <p:txBody>
          <a:bodyPr/>
          <a:lstStyle/>
          <a:p>
            <a:pPr>
              <a:defRPr sz="1800"/>
            </a:pPr>
            <a:r>
              <a:t>Ein unbeheizter Kaltwintergarten und eine Wohnraumerweiterung verfolgen unterschiedliche Ziele. Die Kaltvariante eignet sich für einen geschützten Sitzplatz, die saisonale Nutzung oder Pflanzenüberwinterung. Dafür genügt häufig eine frostfache, robuste Auslegung. Wer den Raum ganzjährig als Wohnraum, Arbeitsbereich oder Essbereich nutzen möchte, benötigt dagegen Wärmeschutz, Luftdichtheit, Heizflächen, Verteilleitungen und eine abgestimmte Lüftungsstrategie. Hilfreich ist eine Nutzungsbeschreibung, bevor erste Materialien und Details festgelegt werden: In welchen Monaten soll der Raum regelmäßig genutzt werden? Welche Raumtemperatur wird erwa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Nutzung entscheidet über den technischen Anspruch</a:t>
            </a:r>
          </a:p>
        </p:txBody>
      </p:sp>
      <p:sp>
        <p:nvSpPr>
          <p:cNvPr id="3" name="Content Placeholder 2"/>
          <p:cNvSpPr>
            <a:spLocks noGrp="1"/>
          </p:cNvSpPr>
          <p:nvPr>
            <p:ph idx="1"/>
          </p:nvPr>
        </p:nvSpPr>
        <p:spPr/>
        <p:txBody>
          <a:bodyPr/>
          <a:lstStyle/>
          <a:p>
            <a:pPr>
              <a:defRPr sz="1800"/>
            </a:pPr>
            <a:r>
              <a:t>rtet? Soll er eigenständig bleiben oder als Erweiterung eines bestehenden Zimmers verstanden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Bauaufgaben für die frühe Bestandsaufnahme</a:t>
            </a:r>
          </a:p>
        </p:txBody>
      </p:sp>
      <p:sp>
        <p:nvSpPr>
          <p:cNvPr id="3" name="Content Placeholder 2"/>
          <p:cNvSpPr>
            <a:spLocks noGrp="1"/>
          </p:cNvSpPr>
          <p:nvPr>
            <p:ph idx="1"/>
          </p:nvPr>
        </p:nvSpPr>
        <p:spPr/>
        <p:txBody>
          <a:bodyPr/>
          <a:lstStyle/>
          <a:p>
            <a:pPr>
              <a:defRPr sz="1800"/>
            </a:pPr>
            <a:r>
              <a:t>Für die Vorprüfung sollten Grundriss, Wandaufbau, sichtbare Anschlüsse, Gründung und Dachanschluss gemeinsam betrachtet werden. Die Gebäudehülle muss zur geplanten Nutzung passen: Wärmeschutz und Dichtheit sind bei einer beheizten Wohnraumerweiterung wesentlich wichtiger als bei einem unbeheizten Wintergarten. Gleichzeitig benötigen große Glasflächen eine wirksame Lüftung und ausreichend Verschattung, damit der Raum an warmen Tagen nutzbar bleibt. Für die Haustechnik ist zu klären, ob bestehende Heizungs- oder Lüftungsleitungen angebunden werden können oder eine eigene Lösung erforderlich ist. Auch Feuchte aus Nutzung und Außenklima muss berü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Bauaufgaben für die frühe Bestandsaufnahme</a:t>
            </a:r>
          </a:p>
        </p:txBody>
      </p:sp>
      <p:sp>
        <p:nvSpPr>
          <p:cNvPr id="3" name="Content Placeholder 2"/>
          <p:cNvSpPr>
            <a:spLocks noGrp="1"/>
          </p:cNvSpPr>
          <p:nvPr>
            <p:ph idx="1"/>
          </p:nvPr>
        </p:nvSpPr>
        <p:spPr/>
        <p:txBody>
          <a:bodyPr/>
          <a:lstStyle/>
          <a:p>
            <a:pPr>
              <a:defRPr sz="1800"/>
            </a:pPr>
            <a:r>
              <a:t>cksichtigt werden. Ein Bestandsgrundriss hilft dabei, diese Fragen vor dem Bauauftrag zu strukturieren.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Anschluss an das Haus ist die kritische Schnittstelle</a:t>
            </a:r>
          </a:p>
        </p:txBody>
      </p:sp>
      <p:sp>
        <p:nvSpPr>
          <p:cNvPr id="3" name="Content Placeholder 2"/>
          <p:cNvSpPr>
            <a:spLocks noGrp="1"/>
          </p:cNvSpPr>
          <p:nvPr>
            <p:ph idx="1"/>
          </p:nvPr>
        </p:nvSpPr>
        <p:spPr/>
        <p:txBody>
          <a:bodyPr/>
          <a:lstStyle/>
          <a:p>
            <a:pPr>
              <a:defRPr sz="1800"/>
            </a:pPr>
            <a:r>
              <a:t>Neue Öffnungen, Dachanschluss und Gründung müssen mit dem Bestand abgestimmt werden. An diesen Übergängen entstehen besonders dann Wärmebrücken oder Luftundichtheiten, wenn neue Bauteile nicht konsequent auf die vorhandene Konstruktion abgestimmt sind. Eine nachträgliche Verglasung einer bestehenden Überdachung ist dabei nicht automatisch mit einem gleichwertig geplanten Wintergarten gleichzusetzen. Auch die Unterscheidung zwischen einer offenen Überdachung und einem geschlossenen Raum ist für die weitere Planung wichtig. Die Quelle weist darauf hin, dass sich die Hamburger Bauvorschriften zum 1. Januar 2026 geändert haben und dass Verfahrens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Anschluss an das Haus ist die kritische Schnittstelle</a:t>
            </a:r>
          </a:p>
        </p:txBody>
      </p:sp>
      <p:sp>
        <p:nvSpPr>
          <p:cNvPr id="3" name="Content Placeholder 2"/>
          <p:cNvSpPr>
            <a:spLocks noGrp="1"/>
          </p:cNvSpPr>
          <p:nvPr>
            <p:ph idx="1"/>
          </p:nvPr>
        </p:nvSpPr>
        <p:spPr/>
        <p:txBody>
          <a:bodyPr/>
          <a:lstStyle/>
          <a:p>
            <a:pPr>
              <a:defRPr sz="1800"/>
            </a:pPr>
            <a:r>
              <a:t>freiheit nicht die Einhaltung sonstiger baulicher Vorgaben ersetzt. Die öffentlich-rechtliche Einordnung sollte deshalb vor dem Bauauftrag geklärt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vorbereitete Anfrage spart unnötige Abstimmung</a:t>
            </a:r>
          </a:p>
        </p:txBody>
      </p:sp>
      <p:sp>
        <p:nvSpPr>
          <p:cNvPr id="3" name="Content Placeholder 2"/>
          <p:cNvSpPr>
            <a:spLocks noGrp="1"/>
          </p:cNvSpPr>
          <p:nvPr>
            <p:ph idx="1"/>
          </p:nvPr>
        </p:nvSpPr>
        <p:spPr/>
        <p:txBody>
          <a:bodyPr/>
          <a:lstStyle/>
          <a:p>
            <a:pPr>
              <a:defRPr sz="1800"/>
            </a:pPr>
            <a:r>
              <a:t>Für die Anfrage an das Wintergarten-Team lassen sich die wichtigsten Angaben übersichtlich zusammenstellen: beheizte oder unbeheizte Nutzung, ungefähre Abmessungen, Himmelsrichtung und Lage am Gebäude, gewünschte Verbindung zum Haus sowie Angaben zu Bestandsgrundriss, Wandaufbau, Heizung und Lüftung. Ergänzend ist die geplante Verbindung als Tür, bodentiefes Fenster oder offener Übergang zu beschreiben. Diese Informationen ermöglichen eine realistischere Einordnung der nächsten Schritte, von offenen Prüfungen über die Bestandsaufnahme bis zur Reihenfolge von Genehmigung und Ausführung. Die Grundlagen für die Auswahl zwischen Kaltwintergarten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vorbereitete Anfrage spart unnötige Abstimmung</a:t>
            </a:r>
          </a:p>
        </p:txBody>
      </p:sp>
      <p:sp>
        <p:nvSpPr>
          <p:cNvPr id="3" name="Content Placeholder 2"/>
          <p:cNvSpPr>
            <a:spLocks noGrp="1"/>
          </p:cNvSpPr>
          <p:nvPr>
            <p:ph idx="1"/>
          </p:nvPr>
        </p:nvSpPr>
        <p:spPr/>
        <p:txBody>
          <a:bodyPr/>
          <a:lstStyle/>
          <a:p>
            <a:pPr>
              <a:defRPr sz="1800"/>
            </a:pPr>
            <a:r>
              <a:t>und Wohnraumerweiterung finden sich in der Übersicht zu Kaltwintergarten oder Wohnraumerweiterung; für die konkrete Abstimmung bietet die Wintergarten-Anfrage den passenden Einstieg.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Kaltwintergarten oder Wohnraumerweiterung: Wie Sie die Vorentscheidung vor der Planung treffen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